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4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52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ProgressBoard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7276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CFDCF7"/>
                </a:solidFill>
                <a:latin typeface="Meiryo"/>
                <a:ea typeface="Meiryo"/>
                <a:cs typeface="Meiryo"/>
              </a:rPr>
              <a:t>Chatwork ID 確認マニュアル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212848"/>
            <a:ext cx="10424160" cy="12801"/>
          </a:xfrm>
          <a:prstGeom prst="rect">
            <a:avLst/>
          </a:prstGeom>
          <a:solidFill>
            <a:srgbClr val="5C7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3957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BFD0F2"/>
                </a:solidFill>
                <a:latin typeface="Meiryo"/>
                <a:ea typeface="Meiryo"/>
                <a:cs typeface="Meiryo"/>
              </a:rPr>
              <a:t>目次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798064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はじめに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3291840"/>
            <a:ext cx="82296" cy="82296"/>
          </a:xfrm>
          <a:prstGeom prst="ellipse">
            <a:avLst/>
          </a:prstGeom>
          <a:solidFill>
            <a:srgbClr val="8F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200400"/>
            <a:ext cx="466344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E4ECFB"/>
                </a:solidFill>
                <a:latin typeface="Meiryo"/>
                <a:ea typeface="Meiryo"/>
                <a:cs typeface="Meiryo"/>
              </a:rPr>
              <a:t>2つのIDと登録先の全体像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634740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担当者ID（アカウントID）</a:t>
            </a:r>
          </a:p>
        </p:txBody>
      </p:sp>
      <p:sp>
        <p:nvSpPr>
          <p:cNvPr id="12" name="Oval 11"/>
          <p:cNvSpPr/>
          <p:nvPr/>
        </p:nvSpPr>
        <p:spPr>
          <a:xfrm>
            <a:off x="896112" y="4128515"/>
            <a:ext cx="82296" cy="82296"/>
          </a:xfrm>
          <a:prstGeom prst="ellipse">
            <a:avLst/>
          </a:prstGeom>
          <a:solidFill>
            <a:srgbClr val="8F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037076"/>
            <a:ext cx="466344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E4ECFB"/>
                </a:solidFill>
                <a:latin typeface="Meiryo"/>
                <a:ea typeface="Meiryo"/>
                <a:cs typeface="Meiryo"/>
              </a:rPr>
              <a:t>方法A：返信／引用から確認（推奨）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4471416"/>
            <a:ext cx="82296" cy="82296"/>
          </a:xfrm>
          <a:prstGeom prst="ellipse">
            <a:avLst/>
          </a:prstGeom>
          <a:solidFill>
            <a:srgbClr val="8F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4379976"/>
            <a:ext cx="466344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E4ECFB"/>
                </a:solidFill>
                <a:latin typeface="Meiryo"/>
                <a:ea typeface="Meiryo"/>
                <a:cs typeface="Meiryo"/>
              </a:rPr>
              <a:t>方法B：管理者はCSVエクスポート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4814316"/>
            <a:ext cx="82296" cy="82296"/>
          </a:xfrm>
          <a:prstGeom prst="ellipse">
            <a:avLst/>
          </a:prstGeom>
          <a:solidFill>
            <a:srgbClr val="8F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722876"/>
            <a:ext cx="466344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E4ECFB"/>
                </a:solidFill>
                <a:latin typeface="Meiryo"/>
                <a:ea typeface="Meiryo"/>
                <a:cs typeface="Meiryo"/>
              </a:rPr>
              <a:t>方法C：APIから取得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798064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グループチャットID（ルームID）</a:t>
            </a:r>
          </a:p>
        </p:txBody>
      </p:sp>
      <p:sp>
        <p:nvSpPr>
          <p:cNvPr id="19" name="Oval 18"/>
          <p:cNvSpPr/>
          <p:nvPr/>
        </p:nvSpPr>
        <p:spPr>
          <a:xfrm>
            <a:off x="6364224" y="3291840"/>
            <a:ext cx="82296" cy="82296"/>
          </a:xfrm>
          <a:prstGeom prst="ellipse">
            <a:avLst/>
          </a:prstGeom>
          <a:solidFill>
            <a:srgbClr val="8F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200400"/>
            <a:ext cx="466344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E4ECFB"/>
                </a:solidFill>
                <a:latin typeface="Meiryo"/>
                <a:ea typeface="Meiryo"/>
                <a:cs typeface="Meiryo"/>
              </a:rPr>
              <a:t>方法A：ルームURLの rid で確認（推奨）</a:t>
            </a:r>
          </a:p>
        </p:txBody>
      </p:sp>
      <p:sp>
        <p:nvSpPr>
          <p:cNvPr id="21" name="Oval 20"/>
          <p:cNvSpPr/>
          <p:nvPr/>
        </p:nvSpPr>
        <p:spPr>
          <a:xfrm>
            <a:off x="6364224" y="3634740"/>
            <a:ext cx="82296" cy="82296"/>
          </a:xfrm>
          <a:prstGeom prst="ellipse">
            <a:avLst/>
          </a:prstGeom>
          <a:solidFill>
            <a:srgbClr val="8F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543300"/>
            <a:ext cx="466344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E4ECFB"/>
                </a:solidFill>
                <a:latin typeface="Meiryo"/>
                <a:ea typeface="Meiryo"/>
                <a:cs typeface="Meiryo"/>
              </a:rPr>
              <a:t>方法B：APIで一覧取得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977639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まとめ</a:t>
            </a:r>
          </a:p>
        </p:txBody>
      </p:sp>
      <p:sp>
        <p:nvSpPr>
          <p:cNvPr id="24" name="Oval 23"/>
          <p:cNvSpPr/>
          <p:nvPr/>
        </p:nvSpPr>
        <p:spPr>
          <a:xfrm>
            <a:off x="6364224" y="4471416"/>
            <a:ext cx="82296" cy="82296"/>
          </a:xfrm>
          <a:prstGeom prst="ellipse">
            <a:avLst/>
          </a:prstGeom>
          <a:solidFill>
            <a:srgbClr val="8F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379976"/>
            <a:ext cx="466344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E4ECFB"/>
                </a:solidFill>
                <a:latin typeface="Meiryo"/>
                <a:ea typeface="Meiryo"/>
                <a:cs typeface="Meiryo"/>
              </a:rPr>
              <a:t>ProgressBoardへの登録先 早見表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3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3774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66928" y="347472"/>
            <a:ext cx="237744" cy="237744"/>
          </a:xfrm>
          <a:prstGeom prst="diamond">
            <a:avLst/>
          </a:prstGeom>
          <a:solidFill>
            <a:srgbClr val="1B3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0"/>
            <a:ext cx="10424160" cy="9326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全体像 ― 2つのIDと、その登録先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5074920" cy="2651760"/>
          </a:xfrm>
          <a:prstGeom prst="roundRect">
            <a:avLst>
              <a:gd name="adj" fmla="val 5000"/>
            </a:avLst>
          </a:prstGeom>
          <a:solidFill>
            <a:srgbClr val="DDE9F9"/>
          </a:solidFill>
          <a:ln w="19050">
            <a:solidFill>
              <a:srgbClr val="3D6FC4"/>
            </a:solidFill>
          </a:ln>
          <a:effectLst/>
          <a:effectLst>
            <a:outerShdw blurRad="50800" dist="25400" dir="5400000" rotWithShape="0">
              <a:srgbClr val="8593AB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57276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3D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72768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担当者ID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84831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B3A8B"/>
                </a:solidFill>
                <a:latin typeface="Meiryo"/>
                <a:ea typeface="Meiryo"/>
                <a:cs typeface="Meiryo"/>
              </a:rPr>
              <a:t>アカウントID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15184"/>
            <a:ext cx="448056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Chatworkの各ユーザー固有の数字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用途：[To:〇〇] のメンション（宛先）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2958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B3A8B"/>
                </a:solidFill>
                <a:latin typeface="Meiryo"/>
                <a:ea typeface="Meiryo"/>
                <a:cs typeface="Meiryo"/>
              </a:rPr>
              <a:t>→ 担当者マスタの「チャットID」に登録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56832" y="1298448"/>
            <a:ext cx="5074920" cy="2651760"/>
          </a:xfrm>
          <a:prstGeom prst="roundRect">
            <a:avLst>
              <a:gd name="adj" fmla="val 5000"/>
            </a:avLst>
          </a:prstGeom>
          <a:solidFill>
            <a:srgbClr val="DCEFE0"/>
          </a:solidFill>
          <a:ln w="19050">
            <a:solidFill>
              <a:srgbClr val="2E8B57"/>
            </a:solidFill>
          </a:ln>
          <a:effectLst/>
          <a:effectLst>
            <a:outerShdw blurRad="50800" dist="25400" dir="5400000" rotWithShape="0">
              <a:srgbClr val="8593AB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76872" y="157276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76872" y="1572768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ルームID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872" y="2084831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E6B43"/>
                </a:solidFill>
                <a:latin typeface="Meiryo"/>
                <a:ea typeface="Meiryo"/>
                <a:cs typeface="Meiryo"/>
              </a:rPr>
              <a:t>グループチャットID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2615184"/>
            <a:ext cx="448056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チャットルーム固有の数字（rid〇〇）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用途：通知メッセージの送信先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352958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E6B43"/>
                </a:solidFill>
                <a:latin typeface="Meiryo"/>
                <a:ea typeface="Meiryo"/>
                <a:cs typeface="Meiryo"/>
              </a:rPr>
              <a:t>→ プロジェクトの「通知先ルーム」に登録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5138928"/>
            <a:ext cx="12191695" cy="17190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138928"/>
            <a:ext cx="12191695" cy="18288"/>
          </a:xfrm>
          <a:prstGeom prst="rect">
            <a:avLst/>
          </a:prstGeom>
          <a:solidFill>
            <a:srgbClr val="D9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2486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B3A8B"/>
                </a:solidFill>
                <a:latin typeface="Meiryo"/>
                <a:ea typeface="Meiryo"/>
                <a:cs typeface="Meiryo"/>
              </a:rPr>
              <a:t>解説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5586984"/>
            <a:ext cx="274320" cy="274320"/>
          </a:xfrm>
          <a:prstGeom prst="ellipse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568696"/>
            <a:ext cx="1097280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担当者ID（アカウントID）は「誰宛てに通知するか」を決めるメンション用の数字です。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5952744"/>
            <a:ext cx="274320" cy="274320"/>
          </a:xfrm>
          <a:prstGeom prst="ellipse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934456"/>
            <a:ext cx="1097280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グループチャットID（ルームID）は「どのルームへ通知を送るか」を決める数字です。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" y="6318504"/>
            <a:ext cx="274320" cy="274320"/>
          </a:xfrm>
          <a:prstGeom prst="ellipse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6300216"/>
            <a:ext cx="1097280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両方をProgressBoardに登録すると、期日通知が該当ルームへメンション付きで自動送信されます。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3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3774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66928" y="347472"/>
            <a:ext cx="237744" cy="237744"/>
          </a:xfrm>
          <a:prstGeom prst="diamond">
            <a:avLst/>
          </a:prstGeom>
          <a:solidFill>
            <a:srgbClr val="1B3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0"/>
            <a:ext cx="10424160" cy="9326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担当者ID ― 方法A：返信／引用から確認（推奨）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3502152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D9DFE8"/>
            </a:solidFill>
          </a:ln>
          <a:effectLst/>
          <a:effectLst>
            <a:outerShdw blurRad="50800" dist="25400" dir="5400000" rotWithShape="0">
              <a:srgbClr val="8593AB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76656" y="1481328"/>
            <a:ext cx="329184" cy="329184"/>
          </a:xfrm>
          <a:prstGeom prst="ellipse">
            <a:avLst/>
          </a:prstGeom>
          <a:solidFill>
            <a:srgbClr val="1B3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481328"/>
            <a:ext cx="274320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B3A8B"/>
                </a:solidFill>
                <a:latin typeface="Meiryo"/>
                <a:ea typeface="Meiryo"/>
                <a:cs typeface="Meiryo"/>
              </a:rPr>
              <a:t>STEP1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対象の人がいるグループチャットを開く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3672" y="1298448"/>
            <a:ext cx="3502152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D9DFE8"/>
            </a:solidFill>
          </a:ln>
          <a:effectLst/>
          <a:effectLst>
            <a:outerShdw blurRad="50800" dist="25400" dir="5400000" rotWithShape="0">
              <a:srgbClr val="8593AB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53128" y="1481328"/>
            <a:ext cx="329184" cy="329184"/>
          </a:xfrm>
          <a:prstGeom prst="ellipse">
            <a:avLst/>
          </a:prstGeom>
          <a:solidFill>
            <a:srgbClr val="1B3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481328"/>
            <a:ext cx="274320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B3A8B"/>
                </a:solidFill>
                <a:latin typeface="Meiryo"/>
                <a:ea typeface="Meiryo"/>
                <a:cs typeface="Meiryo"/>
              </a:rPr>
              <a:t>STEP2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1938528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その人のメッセージにカーソルを合わせ、
「返信」または「引用」をクリック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298448"/>
            <a:ext cx="3502152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D9DFE8"/>
            </a:solidFill>
          </a:ln>
          <a:effectLst/>
          <a:effectLst>
            <a:outerShdw blurRad="50800" dist="25400" dir="5400000" rotWithShape="0">
              <a:srgbClr val="8593AB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0" y="1481328"/>
            <a:ext cx="329184" cy="329184"/>
          </a:xfrm>
          <a:prstGeom prst="ellipse">
            <a:avLst/>
          </a:prstGeom>
          <a:solidFill>
            <a:srgbClr val="1B3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1481328"/>
            <a:ext cx="274320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B3A8B"/>
                </a:solidFill>
                <a:latin typeface="Meiryo"/>
                <a:ea typeface="Meiryo"/>
                <a:cs typeface="Meiryo"/>
              </a:rPr>
              <a:t>STEP3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38528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入力欄に自動で挿入される数字がアカウントID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07792"/>
            <a:ext cx="11274552" cy="1874519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524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0540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5B6677"/>
                </a:solidFill>
                <a:latin typeface="Meiryo"/>
                <a:ea typeface="Meiryo"/>
                <a:cs typeface="Meiryo"/>
              </a:rPr>
              <a:t>入力欄の表示例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419856"/>
            <a:ext cx="530352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5661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B3A8B"/>
                </a:solidFill>
                <a:latin typeface="Meiryo"/>
                <a:ea typeface="Meiryo"/>
                <a:cs typeface="Meiryo"/>
              </a:rPr>
              <a:t>「返信」を押したとき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895344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B3342"/>
                </a:solidFill>
                <a:latin typeface="Consolas"/>
                <a:ea typeface="Consolas"/>
                <a:cs typeface="Consolas"/>
              </a:rPr>
              <a:t>[To:</a:t>
            </a:r>
            <a:r>
              <a:rPr sz="1500" b="1" i="0">
                <a:solidFill>
                  <a:srgbClr val="E23B3B"/>
                </a:solidFill>
                <a:latin typeface="Consolas"/>
                <a:ea typeface="Consolas"/>
                <a:cs typeface="Consolas"/>
              </a:rPr>
              <a:t>1234567</a:t>
            </a:r>
            <a:r>
              <a:rPr sz="1500" b="1" i="0">
                <a:solidFill>
                  <a:srgbClr val="2B3342"/>
                </a:solidFill>
                <a:latin typeface="Consolas"/>
                <a:ea typeface="Consolas"/>
                <a:cs typeface="Consolas"/>
              </a:rPr>
              <a:t> 山田さん]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26110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5B6677"/>
                </a:solidFill>
                <a:latin typeface="Meiryo"/>
                <a:ea typeface="Meiryo"/>
                <a:cs typeface="Meiryo"/>
              </a:rPr>
              <a:t>→ 数字 1234567 がアカウントID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419856"/>
            <a:ext cx="530352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5661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B3A8B"/>
                </a:solidFill>
                <a:latin typeface="Meiryo"/>
                <a:ea typeface="Meiryo"/>
                <a:cs typeface="Meiryo"/>
              </a:rPr>
              <a:t>「引用」を押したとき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895344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B3342"/>
                </a:solidFill>
                <a:latin typeface="Consolas"/>
                <a:ea typeface="Consolas"/>
                <a:cs typeface="Consolas"/>
              </a:rPr>
              <a:t>[qtmeta aid=</a:t>
            </a:r>
            <a:r>
              <a:rPr sz="1500" b="1" i="0">
                <a:solidFill>
                  <a:srgbClr val="E23B3B"/>
                </a:solidFill>
                <a:latin typeface="Consolas"/>
                <a:ea typeface="Consolas"/>
                <a:cs typeface="Consolas"/>
              </a:rPr>
              <a:t>1234567</a:t>
            </a:r>
            <a:r>
              <a:rPr sz="1500" b="1" i="0">
                <a:solidFill>
                  <a:srgbClr val="2B3342"/>
                </a:solidFill>
                <a:latin typeface="Consolas"/>
                <a:ea typeface="Consolas"/>
                <a:cs typeface="Consolas"/>
              </a:rPr>
              <a:t> ...]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26110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5B6677"/>
                </a:solidFill>
                <a:latin typeface="Meiryo"/>
                <a:ea typeface="Meiryo"/>
                <a:cs typeface="Meiryo"/>
              </a:rPr>
              <a:t>→ aid= の後ろの数字がアカウントID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5138928"/>
            <a:ext cx="12191695" cy="17190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138928"/>
            <a:ext cx="12191695" cy="18288"/>
          </a:xfrm>
          <a:prstGeom prst="rect">
            <a:avLst/>
          </a:prstGeom>
          <a:solidFill>
            <a:srgbClr val="D9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2486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B3A8B"/>
                </a:solidFill>
                <a:latin typeface="Meiryo"/>
                <a:ea typeface="Meiryo"/>
                <a:cs typeface="Meiryo"/>
              </a:rPr>
              <a:t>ポイント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5586984"/>
            <a:ext cx="274320" cy="274320"/>
          </a:xfrm>
          <a:prstGeom prst="ellipse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568696"/>
            <a:ext cx="1097280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「返信」で入力欄に入る [To:1234567 名前さん] の 1234567 がアカウントIDです。</a:t>
            </a:r>
          </a:p>
        </p:txBody>
      </p:sp>
      <p:sp>
        <p:nvSpPr>
          <p:cNvPr id="33" name="Oval 32"/>
          <p:cNvSpPr/>
          <p:nvPr/>
        </p:nvSpPr>
        <p:spPr>
          <a:xfrm>
            <a:off x="457200" y="5952744"/>
            <a:ext cx="274320" cy="274320"/>
          </a:xfrm>
          <a:prstGeom prst="ellipse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934456"/>
            <a:ext cx="1097280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確認後、入力欄の文字は送信せずに消してOK（IDを控えるだけ）。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3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3774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66928" y="347472"/>
            <a:ext cx="237744" cy="237744"/>
          </a:xfrm>
          <a:prstGeom prst="diamond">
            <a:avLst/>
          </a:prstGeom>
          <a:solidFill>
            <a:srgbClr val="1B3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0"/>
            <a:ext cx="10424160" cy="9326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担当者ID ― 方法B / C：CSV・API でまとめて取得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D9DFE8"/>
            </a:solidFill>
          </a:ln>
          <a:effectLst/>
          <a:effectLst>
            <a:outerShdw blurRad="50800" dist="25400" dir="5400000" rotWithShape="0">
              <a:srgbClr val="8593AB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9105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B3A8B"/>
                </a:solidFill>
                <a:latin typeface="Meiryo"/>
                <a:ea typeface="Meiryo"/>
                <a:cs typeface="Meiryo"/>
              </a:rPr>
              <a:t>方法B：管理者はCSVエクスポート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5B6677"/>
                </a:solidFill>
                <a:latin typeface="Meiryo"/>
                <a:ea typeface="Meiryo"/>
                <a:cs typeface="Meiryo"/>
              </a:rPr>
              <a:t>ビジネス／エンタープライズ版の管理者向け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395728"/>
            <a:ext cx="274320" cy="274320"/>
          </a:xfrm>
          <a:prstGeom prst="ellipse">
            <a:avLst/>
          </a:prstGeom>
          <a:solidFill>
            <a:srgbClr val="1B3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2377440"/>
            <a:ext cx="46634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右上のアカウント名 →「管理者設定」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816352"/>
            <a:ext cx="274320" cy="274320"/>
          </a:xfrm>
          <a:prstGeom prst="ellipse">
            <a:avLst/>
          </a:prstGeom>
          <a:solidFill>
            <a:srgbClr val="1B3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2798064"/>
            <a:ext cx="46634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左メニュー「ユーザーリスト」を開く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236976"/>
            <a:ext cx="274320" cy="274320"/>
          </a:xfrm>
          <a:prstGeom prst="ellipse">
            <a:avLst/>
          </a:prstGeom>
          <a:solidFill>
            <a:srgbClr val="1B3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3218688"/>
            <a:ext cx="46634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「CSVエクスポート」→ ユーザー情報を出力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657600"/>
            <a:ext cx="274320" cy="274320"/>
          </a:xfrm>
          <a:prstGeom prst="ellipse">
            <a:avLst/>
          </a:prstGeom>
          <a:solidFill>
            <a:srgbClr val="1B3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3639312"/>
            <a:ext cx="46634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ダウンしたCSVの A列 がアカウントID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371600"/>
            <a:ext cx="548640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D9DFE8"/>
            </a:solidFill>
          </a:ln>
          <a:effectLst/>
          <a:effectLst>
            <a:outerShdw blurRad="50800" dist="25400" dir="5400000" rotWithShape="0">
              <a:srgbClr val="8593AB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59105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B3A8B"/>
                </a:solidFill>
                <a:latin typeface="Meiryo"/>
                <a:ea typeface="Meiryo"/>
                <a:cs typeface="Meiryo"/>
              </a:rPr>
              <a:t>方法C：API から取得（開発向け）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0116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5B6677"/>
                </a:solidFill>
                <a:latin typeface="Meiryo"/>
                <a:ea typeface="Meiryo"/>
                <a:cs typeface="Meiryo"/>
              </a:rPr>
              <a:t>ルームのメンバー一覧を取得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19672" y="2377440"/>
            <a:ext cx="4937760" cy="1051560"/>
          </a:xfrm>
          <a:prstGeom prst="roundRect">
            <a:avLst>
              <a:gd name="adj" fmla="val 6000"/>
            </a:avLst>
          </a:prstGeom>
          <a:solidFill>
            <a:srgbClr val="1E2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2552" y="2505456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7FD4A0"/>
                </a:solidFill>
                <a:latin typeface="Consolas"/>
                <a:ea typeface="Consolas"/>
                <a:cs typeface="Consolas"/>
              </a:rPr>
              <a:t>GET</a:t>
            </a:r>
            <a:r>
              <a:rPr sz="1150" b="0" i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https://api.chatwork.com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  /v2/rooms/{room_id}/members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9FB2D4"/>
                </a:solidFill>
                <a:latin typeface="Consolas"/>
                <a:ea typeface="Consolas"/>
                <a:cs typeface="Consolas"/>
              </a:rPr>
              <a:t>Header: </a:t>
            </a:r>
            <a:r>
              <a:rPr sz="1150" b="1" i="0">
                <a:solidFill>
                  <a:srgbClr val="F3C96B"/>
                </a:solidFill>
                <a:latin typeface="Consolas"/>
                <a:ea typeface="Consolas"/>
                <a:cs typeface="Consolas"/>
              </a:rPr>
              <a:t>X-ChatWorkToken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356616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レスポンスの </a:t>
            </a:r>
            <a:r>
              <a:rPr sz="1250" b="1" i="0">
                <a:solidFill>
                  <a:srgbClr val="E23B3B"/>
                </a:solidFill>
                <a:latin typeface="Consolas"/>
                <a:ea typeface="Consolas"/>
                <a:cs typeface="Consolas"/>
              </a:rPr>
              <a:t>account_id</a:t>
            </a:r>
            <a:r>
              <a:rPr sz="12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 と </a:t>
            </a:r>
            <a:r>
              <a:rPr sz="1250" b="1" i="0">
                <a:solidFill>
                  <a:srgbClr val="1B3A8B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2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 の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対応で各担当者のIDを確認できます。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5138928"/>
            <a:ext cx="12191695" cy="17190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138928"/>
            <a:ext cx="12191695" cy="18288"/>
          </a:xfrm>
          <a:prstGeom prst="rect">
            <a:avLst/>
          </a:prstGeom>
          <a:solidFill>
            <a:srgbClr val="D9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2486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B3A8B"/>
                </a:solidFill>
                <a:latin typeface="Meiryo"/>
                <a:ea typeface="Meiryo"/>
                <a:cs typeface="Meiryo"/>
              </a:rPr>
              <a:t>ポイント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5586984"/>
            <a:ext cx="274320" cy="274320"/>
          </a:xfrm>
          <a:prstGeom prst="ellipse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568696"/>
            <a:ext cx="1097280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大人数の担当者IDをまとめて取得したいときは方法B・Cが早いです。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5952744"/>
            <a:ext cx="274320" cy="274320"/>
          </a:xfrm>
          <a:prstGeom prst="ellipse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934456"/>
            <a:ext cx="1097280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APIは X-ChatWorkToken ヘッダーにトークンを付けてGETで呼び出します。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3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3774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66928" y="347472"/>
            <a:ext cx="237744" cy="237744"/>
          </a:xfrm>
          <a:prstGeom prst="diamond">
            <a:avLst/>
          </a:prstGeom>
          <a:solidFill>
            <a:srgbClr val="1B3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0"/>
            <a:ext cx="10424160" cy="9326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グループチャットID ― 方法A：ルームURLで確認（推奨）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74552" cy="932688"/>
          </a:xfrm>
          <a:prstGeom prst="roundRect">
            <a:avLst>
              <a:gd name="adj" fmla="val 18000"/>
            </a:avLst>
          </a:prstGeom>
          <a:solidFill>
            <a:srgbClr val="EEF1F6"/>
          </a:solidFill>
          <a:ln w="1524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1737360"/>
            <a:ext cx="146304" cy="146304"/>
          </a:xfrm>
          <a:prstGeom prst="ellipse">
            <a:avLst/>
          </a:prstGeom>
          <a:solidFill>
            <a:srgbClr val="E6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1737360"/>
            <a:ext cx="146304" cy="146304"/>
          </a:xfrm>
          <a:prstGeom prst="ellipse">
            <a:avLst/>
          </a:prstGeom>
          <a:solidFill>
            <a:srgbClr val="E9B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2144" y="1737360"/>
            <a:ext cx="146304" cy="146304"/>
          </a:xfrm>
          <a:prstGeom prst="ellipse">
            <a:avLst/>
          </a:prstGeom>
          <a:solidFill>
            <a:srgbClr val="67B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554480" y="1572768"/>
            <a:ext cx="996696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1572768"/>
            <a:ext cx="969264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5B6677"/>
                </a:solidFill>
                <a:latin typeface="Consolas"/>
                <a:ea typeface="Consolas"/>
                <a:cs typeface="Consolas"/>
              </a:rPr>
              <a:t>https://www.chatwork.com/#!</a:t>
            </a:r>
            <a:r>
              <a:rPr sz="1600" b="1" i="0">
                <a:solidFill>
                  <a:srgbClr val="1B3A8B"/>
                </a:solidFill>
                <a:latin typeface="Consolas"/>
                <a:ea typeface="Consolas"/>
                <a:cs typeface="Consolas"/>
              </a:rPr>
              <a:t>rid</a:t>
            </a:r>
            <a:r>
              <a:rPr sz="1600" b="1" i="0">
                <a:solidFill>
                  <a:srgbClr val="E23B3B"/>
                </a:solidFill>
                <a:latin typeface="Consolas"/>
                <a:ea typeface="Consolas"/>
                <a:cs typeface="Consolas"/>
              </a:rPr>
              <a:t>123456789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39572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5B6677"/>
                </a:solidFill>
                <a:latin typeface="Meiryo"/>
                <a:ea typeface="Meiryo"/>
                <a:cs typeface="Meiryo"/>
              </a:rPr>
              <a:t>▲ rid の後ろの数字「123456789」がルームID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26080"/>
            <a:ext cx="3502152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D9DFE8"/>
            </a:solidFill>
          </a:ln>
          <a:effectLst/>
          <a:effectLst>
            <a:outerShdw blurRad="50800" dist="25400" dir="5400000" rotWithShape="0">
              <a:srgbClr val="8593AB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6656" y="3108960"/>
            <a:ext cx="329184" cy="329184"/>
          </a:xfrm>
          <a:prstGeom prst="ellipse">
            <a:avLst/>
          </a:prstGeom>
          <a:solidFill>
            <a:srgbClr val="1B3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108960"/>
            <a:ext cx="274320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B3A8B"/>
                </a:solidFill>
                <a:latin typeface="Meiryo"/>
                <a:ea typeface="Meiryo"/>
                <a:cs typeface="Meiryo"/>
              </a:rPr>
              <a:t>STEP1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56616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ブラウザ版Chatworkで対象のルームを開く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33672" y="2926080"/>
            <a:ext cx="3502152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D9DFE8"/>
            </a:solidFill>
          </a:ln>
          <a:effectLst/>
          <a:effectLst>
            <a:outerShdw blurRad="50800" dist="25400" dir="5400000" rotWithShape="0">
              <a:srgbClr val="8593AB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53128" y="3108960"/>
            <a:ext cx="329184" cy="329184"/>
          </a:xfrm>
          <a:prstGeom prst="ellipse">
            <a:avLst/>
          </a:prstGeom>
          <a:solidFill>
            <a:srgbClr val="1B3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108960"/>
            <a:ext cx="274320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B3A8B"/>
                </a:solidFill>
                <a:latin typeface="Meiryo"/>
                <a:ea typeface="Meiryo"/>
                <a:cs typeface="Meiryo"/>
              </a:rPr>
              <a:t>STEP2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1416" y="356616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アドレスバーのURL末尾「#!rid〇〇」を確認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0144" y="2926080"/>
            <a:ext cx="3502152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D9DFE8"/>
            </a:solidFill>
          </a:ln>
          <a:effectLst/>
          <a:effectLst>
            <a:outerShdw blurRad="50800" dist="25400" dir="5400000" rotWithShape="0">
              <a:srgbClr val="8593AB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0" y="3108960"/>
            <a:ext cx="329184" cy="329184"/>
          </a:xfrm>
          <a:prstGeom prst="ellipse">
            <a:avLst/>
          </a:prstGeom>
          <a:solidFill>
            <a:srgbClr val="1B3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8512" y="3108960"/>
            <a:ext cx="274320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B3A8B"/>
                </a:solidFill>
                <a:latin typeface="Meiryo"/>
                <a:ea typeface="Meiryo"/>
                <a:cs typeface="Meiryo"/>
              </a:rPr>
              <a:t>STEP3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56616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rid の後ろの数字がルームID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5138928"/>
            <a:ext cx="12191695" cy="17190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138928"/>
            <a:ext cx="12191695" cy="18288"/>
          </a:xfrm>
          <a:prstGeom prst="rect">
            <a:avLst/>
          </a:prstGeom>
          <a:solidFill>
            <a:srgbClr val="D9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2486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B3A8B"/>
                </a:solidFill>
                <a:latin typeface="Meiryo"/>
                <a:ea typeface="Meiryo"/>
                <a:cs typeface="Meiryo"/>
              </a:rPr>
              <a:t>ポイント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5586984"/>
            <a:ext cx="274320" cy="274320"/>
          </a:xfrm>
          <a:prstGeom prst="ellipse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568696"/>
            <a:ext cx="1097280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グループ／マイ／ダイレクトチャットいずれもURLの rid〇〇 で確認できます。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" y="5952744"/>
            <a:ext cx="274320" cy="274320"/>
          </a:xfrm>
          <a:prstGeom prst="ellipse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934456"/>
            <a:ext cx="1097280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デスクトップアプリはURLバーが無いため、ブラウザ版で開くのが確実です。</a:t>
            </a:r>
          </a:p>
        </p:txBody>
      </p:sp>
      <p:sp>
        <p:nvSpPr>
          <p:cNvPr id="32" name="Oval 31"/>
          <p:cNvSpPr/>
          <p:nvPr/>
        </p:nvSpPr>
        <p:spPr>
          <a:xfrm>
            <a:off x="457200" y="6318504"/>
            <a:ext cx="274320" cy="274320"/>
          </a:xfrm>
          <a:prstGeom prst="ellipse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6300216"/>
            <a:ext cx="1097280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ProgressBoardの「通知先ルーム」には rid付き文字列でも数字だけでも貼り付け可能です。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3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3774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66928" y="347472"/>
            <a:ext cx="237744" cy="237744"/>
          </a:xfrm>
          <a:prstGeom prst="diamond">
            <a:avLst/>
          </a:prstGeom>
          <a:solidFill>
            <a:srgbClr val="1B3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0"/>
            <a:ext cx="10424160" cy="9326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グループチャットID ― 方法B：APIで一覧取得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658368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D9DFE8"/>
            </a:solidFill>
          </a:ln>
          <a:effectLst/>
          <a:effectLst>
            <a:outerShdw blurRad="50800" dist="25400" dir="5400000" rotWithShape="0">
              <a:srgbClr val="8593AB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91056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B3A8B"/>
                </a:solidFill>
                <a:latin typeface="Meiryo"/>
                <a:ea typeface="Meiryo"/>
                <a:cs typeface="Meiryo"/>
              </a:rPr>
              <a:t>参加ルームを一括取得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48256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1E2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7FD4A0"/>
                </a:solidFill>
                <a:latin typeface="Consolas"/>
                <a:ea typeface="Consolas"/>
                <a:cs typeface="Consolas"/>
              </a:rPr>
              <a:t>GET</a:t>
            </a:r>
            <a:r>
              <a:rPr sz="1200" b="0" i="0">
                <a:solidFill>
                  <a:srgbClr val="E8EEF7"/>
                </a:solidFill>
                <a:latin typeface="Consolas"/>
                <a:ea typeface="Consolas"/>
                <a:cs typeface="Consolas"/>
              </a:rPr>
              <a:t> https://api.chatwork.com/v2/rooms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9FB2D4"/>
                </a:solidFill>
                <a:latin typeface="Consolas"/>
                <a:ea typeface="Consolas"/>
                <a:cs typeface="Consolas"/>
              </a:rPr>
              <a:t>Header: </a:t>
            </a:r>
            <a:r>
              <a:rPr sz="1200" b="1" i="0">
                <a:solidFill>
                  <a:srgbClr val="F3C96B"/>
                </a:solidFill>
                <a:latin typeface="Consolas"/>
                <a:ea typeface="Consolas"/>
                <a:cs typeface="Consolas"/>
              </a:rPr>
              <a:t>X-ChatWorkToken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603504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返り値の各要素から 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23B3B"/>
                </a:solidFill>
                <a:latin typeface="Consolas"/>
                <a:ea typeface="Consolas"/>
                <a:cs typeface="Consolas"/>
              </a:rPr>
              <a:t>room_id</a:t>
            </a:r>
            <a:r>
              <a:rPr sz="130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 と </a:t>
            </a:r>
            <a:r>
              <a:rPr sz="1300" b="1" i="0">
                <a:solidFill>
                  <a:srgbClr val="1B3A8B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30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 の対応表が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一括で取れます。名前からIDを探すときに便利。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51192" y="1371600"/>
            <a:ext cx="4480560" cy="32461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524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5727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5B6677"/>
                </a:solidFill>
                <a:latin typeface="Meiryo"/>
                <a:ea typeface="Meiryo"/>
                <a:cs typeface="Meiryo"/>
              </a:rPr>
              <a:t>レスポンス例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938528"/>
            <a:ext cx="4114800" cy="2560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B3342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B3342"/>
                </a:solidFill>
                <a:latin typeface="Consolas"/>
                <a:ea typeface="Consolas"/>
                <a:cs typeface="Consolas"/>
              </a:rPr>
              <a:t>  { </a:t>
            </a:r>
            <a:r>
              <a:rPr sz="1200" b="1" i="0">
                <a:solidFill>
                  <a:srgbClr val="E23B3B"/>
                </a:solidFill>
                <a:latin typeface="Consolas"/>
                <a:ea typeface="Consolas"/>
                <a:cs typeface="Consolas"/>
              </a:rPr>
              <a:t>"room_id"</a:t>
            </a:r>
            <a:r>
              <a:rPr sz="1200" b="0" i="0">
                <a:solidFill>
                  <a:srgbClr val="2B3342"/>
                </a:solidFill>
                <a:latin typeface="Consolas"/>
                <a:ea typeface="Consolas"/>
                <a:cs typeface="Consolas"/>
              </a:rPr>
              <a:t>: 123456789,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B334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00" b="1" i="0">
                <a:solidFill>
                  <a:srgbClr val="1B3A8B"/>
                </a:solidFill>
                <a:latin typeface="Consolas"/>
                <a:ea typeface="Consolas"/>
                <a:cs typeface="Consolas"/>
              </a:rPr>
              <a:t>"name"</a:t>
            </a:r>
            <a:r>
              <a:rPr sz="1200" b="0" i="0">
                <a:solidFill>
                  <a:srgbClr val="2B3342"/>
                </a:solidFill>
                <a:latin typeface="Consolas"/>
                <a:ea typeface="Consolas"/>
                <a:cs typeface="Consolas"/>
              </a:rPr>
              <a:t>: "WLF PJ",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B334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00" b="0" i="0">
                <a:solidFill>
                  <a:srgbClr val="5B6677"/>
                </a:solidFill>
                <a:latin typeface="Consolas"/>
                <a:ea typeface="Consolas"/>
                <a:cs typeface="Consolas"/>
              </a:rPr>
              <a:t>"type"</a:t>
            </a:r>
            <a:r>
              <a:rPr sz="1200" b="0" i="0">
                <a:solidFill>
                  <a:srgbClr val="2B3342"/>
                </a:solidFill>
                <a:latin typeface="Consolas"/>
                <a:ea typeface="Consolas"/>
                <a:cs typeface="Consolas"/>
              </a:rPr>
              <a:t>: "group" },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B6677"/>
                </a:solidFill>
                <a:latin typeface="Consolas"/>
                <a:ea typeface="Consolas"/>
                <a:cs typeface="Consolas"/>
              </a:rPr>
              <a:t>  ...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B3342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138928"/>
            <a:ext cx="12191695" cy="17190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138928"/>
            <a:ext cx="12191695" cy="18288"/>
          </a:xfrm>
          <a:prstGeom prst="rect">
            <a:avLst/>
          </a:prstGeom>
          <a:solidFill>
            <a:srgbClr val="D9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2486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B3A8B"/>
                </a:solidFill>
                <a:latin typeface="Meiryo"/>
                <a:ea typeface="Meiryo"/>
                <a:cs typeface="Meiryo"/>
              </a:rPr>
              <a:t>ポイント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5586984"/>
            <a:ext cx="274320" cy="274320"/>
          </a:xfrm>
          <a:prstGeom prst="ellipse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68696"/>
            <a:ext cx="1097280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特定ルーム1件の詳細は GET /rooms/{room_id} で取得できます。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5952744"/>
            <a:ext cx="274320" cy="274320"/>
          </a:xfrm>
          <a:prstGeom prst="ellipse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934456"/>
            <a:ext cx="1097280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一覧の type で group（グループ）／direct（ダイレクト）／my（マイchat）を判別できます。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3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3774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66928" y="347472"/>
            <a:ext cx="237744" cy="237744"/>
          </a:xfrm>
          <a:prstGeom prst="diamond">
            <a:avLst/>
          </a:prstGeom>
          <a:solidFill>
            <a:srgbClr val="1B3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0"/>
            <a:ext cx="10424160" cy="9326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まとめ ― ProgressBoardへの登録先 早見表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4552" cy="566928"/>
          </a:xfrm>
          <a:prstGeom prst="rect">
            <a:avLst/>
          </a:prstGeom>
          <a:solidFill>
            <a:srgbClr val="1B3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29260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41732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確認方法（推奨）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417320"/>
            <a:ext cx="3593592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ProgressBoardの登録先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84248"/>
            <a:ext cx="1127455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84248"/>
            <a:ext cx="2926080" cy="12344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A8B"/>
                </a:solidFill>
                <a:latin typeface="Meiryo"/>
                <a:ea typeface="Meiryo"/>
                <a:cs typeface="Meiryo"/>
              </a:rPr>
              <a:t>担当者ID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5B6677"/>
                </a:solidFill>
                <a:latin typeface="Meiryo"/>
                <a:ea typeface="Meiryo"/>
                <a:cs typeface="Meiryo"/>
              </a:rPr>
              <a:t>（アカウントID）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1984248"/>
            <a:ext cx="3657600" cy="12344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返信／引用で入力欄に出る
[To:1234567] の数字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1984248"/>
            <a:ext cx="3593592" cy="12344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B3A8B"/>
                </a:solidFill>
                <a:latin typeface="Meiryo"/>
                <a:ea typeface="Meiryo"/>
                <a:cs typeface="Meiryo"/>
              </a:rPr>
              <a:t>担当者マスタ →「チャットID」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18688"/>
            <a:ext cx="11274552" cy="1234440"/>
          </a:xfrm>
          <a:prstGeom prst="rect">
            <a:avLst/>
          </a:prstGeom>
          <a:solidFill>
            <a:srgbClr val="F4F6F9"/>
          </a:solidFill>
          <a:ln w="1270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18688"/>
            <a:ext cx="2926080" cy="12344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A8B"/>
                </a:solidFill>
                <a:latin typeface="Meiryo"/>
                <a:ea typeface="Meiryo"/>
                <a:cs typeface="Meiryo"/>
              </a:rPr>
              <a:t>ルームID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5B6677"/>
                </a:solidFill>
                <a:latin typeface="Meiryo"/>
                <a:ea typeface="Meiryo"/>
                <a:cs typeface="Meiryo"/>
              </a:rPr>
              <a:t>（グループチャットID）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3218688"/>
            <a:ext cx="3657600" cy="12344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ルームURLの
#!rid123456789 の数字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218688"/>
            <a:ext cx="3593592" cy="12344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B3A8B"/>
                </a:solidFill>
                <a:latin typeface="Meiryo"/>
                <a:ea typeface="Meiryo"/>
                <a:cs typeface="Meiryo"/>
              </a:rPr>
              <a:t>プロジェクト →「通知先ルーム」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39" y="1417320"/>
            <a:ext cx="10972" cy="3035808"/>
          </a:xfrm>
          <a:prstGeom prst="rect">
            <a:avLst/>
          </a:prstGeom>
          <a:solidFill>
            <a:srgbClr val="D9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0" y="1417320"/>
            <a:ext cx="10972" cy="3035808"/>
          </a:xfrm>
          <a:prstGeom prst="rect">
            <a:avLst/>
          </a:prstGeom>
          <a:solidFill>
            <a:srgbClr val="D9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138928"/>
            <a:ext cx="12191695" cy="17190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138928"/>
            <a:ext cx="12191695" cy="18288"/>
          </a:xfrm>
          <a:prstGeom prst="rect">
            <a:avLst/>
          </a:prstGeom>
          <a:solidFill>
            <a:srgbClr val="D9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2486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B3A8B"/>
                </a:solidFill>
                <a:latin typeface="Meiryo"/>
                <a:ea typeface="Meiryo"/>
                <a:cs typeface="Meiryo"/>
              </a:rPr>
              <a:t>ポイント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5586984"/>
            <a:ext cx="274320" cy="274320"/>
          </a:xfrm>
          <a:prstGeom prst="ellipse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568696"/>
            <a:ext cx="1097280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両方を登録すると、期日・チェックポイント通知が該当ルームへメンション付きで自動送信されます。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" y="5952744"/>
            <a:ext cx="274320" cy="274320"/>
          </a:xfrm>
          <a:prstGeom prst="ellipse">
            <a:avLst/>
          </a:prstGeom>
          <a:solidFill>
            <a:srgbClr val="E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934456"/>
            <a:ext cx="1097280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2B3342"/>
                </a:solidFill>
                <a:latin typeface="Meiryo"/>
                <a:ea typeface="Meiryo"/>
                <a:cs typeface="Meiryo"/>
              </a:rPr>
              <a:t>チャットIDが未登録の担当者はメンションがスキップされます（通知本文は送信されます）。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